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Plus Jakarta Sans"/>
      <ns0:bold ns1:id="rIdFont15"/>
      <ns0:boldItalic ns1:id="rIdFont16"/>
      <ns0:regular ns1:id="rIdFont17"/>
    </ns0:embeddedFont>
    <ns0:embeddedFont>
      <ns0:font typeface="JetBrains Mono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e984214a-e5af-4ee7-a53c-ad9687597174.fntdata" /><ns0:Relationship Id="rIdFont16" Type="http://schemas.openxmlformats.org/officeDocument/2006/relationships/font" Target="fonts/ed44666a-ac9d-41ff-bfbe-3ce5d83e39e0.fntdata" /><ns0:Relationship Id="rIdFont17" Type="http://schemas.openxmlformats.org/officeDocument/2006/relationships/font" Target="fonts/94ae6894-9eba-4f18-9c58-17e60c28c31e.fntdata" /><ns0:Relationship Id="rIdFont18" Type="http://schemas.openxmlformats.org/officeDocument/2006/relationships/font" Target="fonts/39feace0-2ba7-43df-bcec-5e785985928c.fntdata" /><ns0:Relationship Id="rIdFont19" Type="http://schemas.openxmlformats.org/officeDocument/2006/relationships/font" Target="fonts/f1206850-68f2-48bb-8777-ea13e65d5f3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484340"/>
            <a:ext cx="2076450" cy="381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38450" y="4484340"/>
            <a:ext cx="2171700" cy="381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62550" y="4484340"/>
            <a:ext cx="1657350" cy="381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4598640"/>
            <a:ext cx="1524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425" y="4598640"/>
            <a:ext cx="1905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525" y="4598640"/>
            <a:ext cx="1524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992659"/>
            <a:ext cx="3940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ARCHITECTURE &amp; IMPLEMENTATION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240309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AI Threat Intelligence Detection Chatbot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569940"/>
            <a:ext cx="6762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A lightweight RAG + OKF framework deployed in Google Colab for rapid security querying and threat analysis.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4589115"/>
            <a:ext cx="1833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BD5E1"/>
                </a:solidFill>
                <a:latin typeface="Plus Jakarta Sans"/>
              </a:rPr>
              <a:t>SentenceTransformers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5175" y="4589115"/>
            <a:ext cx="190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BD5E1"/>
                </a:solidFill>
                <a:latin typeface="Plus Jakarta Sans"/>
              </a:rPr>
              <a:t>Qwen2.5-0.5B Instruct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1175" y="4589115"/>
            <a:ext cx="1333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BD5E1"/>
                </a:solidFill>
                <a:latin typeface="Plus Jakarta Sans"/>
              </a:rPr>
              <a:t>Gradio Interface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83073"/>
            <a:ext cx="3505200" cy="2333625"/>
          </a:xfrm>
          <a:prstGeom prst="roundRect">
            <a:avLst>
              <a:gd name="adj" fmla="val 48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83073"/>
            <a:ext cx="3505200" cy="2333625"/>
          </a:xfrm>
          <a:prstGeom prst="roundRect">
            <a:avLst>
              <a:gd name="adj" fmla="val 48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83073"/>
            <a:ext cx="3505200" cy="2333625"/>
          </a:xfrm>
          <a:prstGeom prst="roundRect">
            <a:avLst>
              <a:gd name="adj" fmla="val 48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683073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2683073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2683073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25973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025973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3025973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462" y="3159323"/>
            <a:ext cx="2190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550" y="3159323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1062" y="3159323"/>
            <a:ext cx="21907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SYSTEM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Three Core Pillars of the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73673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1. OKF Knowledge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6098"/>
            <a:ext cx="2990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Structured Markdown storage with Frontmatter metadata (`type:`, `title:`).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8200" y="3673673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2. Vector Retrieval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4026098"/>
            <a:ext cx="29908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Dense semantic embedding search powered by `all-MiniLM-L6-v2` cosine similarity.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0" y="3673673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3. Synthesis &amp; UI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0" y="4026098"/>
            <a:ext cx="29908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Gradio dashboard driving local Qwen2.5 LLM generation with strict source bounds.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35080" y="3211710"/>
            <a:ext cx="666750" cy="266700"/>
          </a:xfrm>
          <a:prstGeom prst="roundRect">
            <a:avLst>
              <a:gd name="adj" fmla="val 1428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35080" y="3726060"/>
            <a:ext cx="666750" cy="266700"/>
          </a:xfrm>
          <a:prstGeom prst="roundRect">
            <a:avLst>
              <a:gd name="adj" fmla="val 1428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35080" y="4240410"/>
            <a:ext cx="666750" cy="266700"/>
          </a:xfrm>
          <a:prstGeom prst="roundRect">
            <a:avLst>
              <a:gd name="adj" fmla="val 1428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35080" y="4754760"/>
            <a:ext cx="666750" cy="266700"/>
          </a:xfrm>
          <a:prstGeom prst="roundRect">
            <a:avLst>
              <a:gd name="adj" fmla="val 1428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2564010"/>
          <a:ext cx="10972799" cy="25717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43200"/>
                <a:gridCol w="3291780"/>
                <a:gridCol w="4937819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Tool / Library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Role in Pipeline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Where Used in Notebook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JetBrains Mono"/>
                        </a:rPr>
                        <a:t>google.colab.files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File Upload Interface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— Upload custom threat reports &amp; notes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JetBrains Mono"/>
                        </a:rPr>
                        <a:t>SentenceTransformer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Vector Embedding Search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— Encodes query and threat chunks into vectors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JetBrains Mono"/>
                        </a:rPr>
                        <a:t>Qwen2.5-0.5B-Instruct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Language Model Synthesis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— Synthesizes short threat answers from retrieved notes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JetBrains Mono"/>
                        </a:rPr>
                        <a:t>Gradio (gr.Blocks)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Interactive Web UI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— Renders user chat interface with 4 example queries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COMPONENT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Technology Stack &amp; Location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1280" y="3249810"/>
            <a:ext cx="609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JetBrains Mono"/>
              </a:rPr>
              <a:t>Cell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11280" y="3764160"/>
            <a:ext cx="609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JetBrains Mono"/>
              </a:rPr>
              <a:t>Cell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1280" y="4278510"/>
            <a:ext cx="609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JetBrains Mono"/>
              </a:rPr>
              <a:t>Cell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1280" y="4792860"/>
            <a:ext cx="609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JetBrains Mono"/>
              </a:rPr>
              <a:t>Cell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16409" y="3194744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711029" y="3194744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05648" y="3194744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00268" y="3194744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94887" y="3194744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Execution Lifecycle (Cell 1 to Cell 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3534" y="3194744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709" y="3728144"/>
            <a:ext cx="2580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Ingest &amp;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147" y="3985319"/>
            <a:ext cx="2457524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Cell 2 &amp; Cell 3 create structure and accept custom files.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8154" y="3194744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1328" y="3728144"/>
            <a:ext cx="2580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Parse &amp; 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2767" y="3985319"/>
            <a:ext cx="2457524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Cell 4 validates OKF schema and auto-updates index.md.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2773" y="3194744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948" y="3728144"/>
            <a:ext cx="2580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Vector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7386" y="3985319"/>
            <a:ext cx="2457524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Cell 5 splits text by section headers and generates embeddings.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7393" y="3194744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0568" y="3728144"/>
            <a:ext cx="2580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Agent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2006" y="3985319"/>
            <a:ext cx="2457524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Cell 6 filters low scores (&lt;0.30) and prompts local LLM.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52012" y="3194744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5187" y="3728144"/>
            <a:ext cx="2580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Gradio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6625" y="3985319"/>
            <a:ext cx="2457524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Cell 7 renders 4 query examples and public link.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68773"/>
            <a:ext cx="5562600" cy="2562225"/>
          </a:xfrm>
          <a:prstGeom prst="roundRect">
            <a:avLst>
              <a:gd name="adj" fmla="val 446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77000" y="2897385"/>
            <a:ext cx="5105400" cy="790575"/>
          </a:xfrm>
          <a:prstGeom prst="roundRect">
            <a:avLst>
              <a:gd name="adj" fmla="val 96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77000" y="3840360"/>
            <a:ext cx="5105400" cy="962025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DATA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OKF Knowledge Format &amp; File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797373"/>
            <a:ext cx="6381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# Example: knowledge/threats/ransomware_lockbit.md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025973"/>
            <a:ext cx="6381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JetBrains Mono"/>
              </a:rPr>
              <a:t>---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225998"/>
            <a:ext cx="6381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JetBrains Mono"/>
              </a:rPr>
              <a:t>type: ThreatIntel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426023"/>
            <a:ext cx="6381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JetBrains Mono"/>
              </a:rPr>
              <a:t>title: LockBit Ransomware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626048"/>
            <a:ext cx="6381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JetBrains Mono"/>
              </a:rPr>
              <a:t>---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902273"/>
            <a:ext cx="6381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JetBrains Mono"/>
              </a:rPr>
              <a:t># LockBit Ransomware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140398"/>
            <a:ext cx="6381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E2E8F0"/>
                </a:solidFill>
                <a:latin typeface="JetBrains Mono"/>
              </a:rPr>
              <a:t>## Indicators of Compromise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340423"/>
            <a:ext cx="6381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JetBrains Mono"/>
              </a:rPr>
              <a:t>Malicious PowerShell execution and hash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540448"/>
            <a:ext cx="6381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E2E8F0"/>
                </a:solidFill>
                <a:latin typeface="JetBrains Mono"/>
              </a:rPr>
              <a:t>## 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740473"/>
            <a:ext cx="6381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JetBrains Mono"/>
              </a:rPr>
              <a:t>Isolate affected endpoints immediately.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0" y="3087885"/>
            <a:ext cx="5524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YAML Frontmatter Header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0" y="3326010"/>
            <a:ext cx="5524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Stores metadata used by validation scripts and agent classification.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0" y="4030860"/>
            <a:ext cx="5524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Section Split Boundaries (##)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0" y="4268985"/>
            <a:ext cx="48196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Ensures vector search chunks text by distinct tactical ideas rather than random tokens.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GUARDRAILS &amp; PRECISION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Strict Hallucination Prevention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14875" y="2864048"/>
            <a:ext cx="276225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1" sz="7200" i="0" u="none">
                <a:solidFill>
                  <a:srgbClr val="0284C7"/>
                </a:solidFill>
                <a:latin typeface="Plus Jakarta Sans"/>
              </a:rPr>
              <a:t>0.30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4281" y="3892748"/>
            <a:ext cx="46434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lus Jakarta Sans"/>
              </a:rPr>
              <a:t>Minimum Cosine Similarity Threshold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4235648"/>
            <a:ext cx="71437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Queries with similarity scores below 0.30 immediately trigger fallback defenses: </a:t>
            </a:r>
            <a:r>
              <a:t>
</a:t>
            </a:r>
            <a:r>
              <a:rPr b="1" sz="1200" i="1" u="none">
                <a:solidFill>
                  <a:srgbClr val="0F172A"/>
                </a:solidFill>
                <a:latin typeface="Plus Jakarta Sans"/>
              </a:rPr>
              <a:t>"I could not find matching threat intelligence in my database."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97385"/>
            <a:ext cx="5391150" cy="85725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2897385"/>
            <a:ext cx="5391150" cy="85725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45135"/>
            <a:ext cx="5391150" cy="85725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945135"/>
            <a:ext cx="5391150" cy="85725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897385"/>
            <a:ext cx="38100" cy="8572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1250" y="2897385"/>
            <a:ext cx="38100" cy="8572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945135"/>
            <a:ext cx="38100" cy="8572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1250" y="3945135"/>
            <a:ext cx="38100" cy="8572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USER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Gradio Interface &amp; Included Example Prompts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125985"/>
            <a:ext cx="61198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EXAMPLE QUERY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326010"/>
            <a:ext cx="6119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"How do I mitigate LockBit ransomware?"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7950" y="3125985"/>
            <a:ext cx="57340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EXAMPLE QUERY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7950" y="3326010"/>
            <a:ext cx="57340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"What are the affected systems for CVE-2026-XYZ?"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173735"/>
            <a:ext cx="61198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EXAMPLE QUERY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373760"/>
            <a:ext cx="6119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"What are the indicators of compromise for LockBit?"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7950" y="4173735"/>
            <a:ext cx="57340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EXAMPLE QUERY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7950" y="4373760"/>
            <a:ext cx="57340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"How do we patch CVE-2026-XYZ?"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90987" y="3962400"/>
            <a:ext cx="4010025" cy="4857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212" y="4143375"/>
            <a:ext cx="142875" cy="142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01650" y="2409825"/>
            <a:ext cx="9588698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Plus Jakarta Sans"/>
              </a:rPr>
              <a:t>Ready to Deploy in Google Colab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6468" y="3143250"/>
            <a:ext cx="773906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Run Cells 1 to 7 sequentially to launch your custom AI threat detection assistant with custom upload capabilities.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56434" y="4095750"/>
            <a:ext cx="447913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Plus Jakarta Sans"/>
              </a:rPr>
              <a:t> RAG Engine • OKF Format • Gradio Dashboard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